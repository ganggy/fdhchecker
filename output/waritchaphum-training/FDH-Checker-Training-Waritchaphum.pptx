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ed880bfc04432c" /><Relationship Type="http://schemas.openxmlformats.org/officeDocument/2006/relationships/extended-properties" Target="/docProps/app.xml" Id="R7c9645d05f5042a4" /><Relationship Type="http://schemas.openxmlformats.org/officeDocument/2006/relationships/officeDocument" Target="/ppt/presentation.xml" Id="R10618939085a46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b43abbbdbe404e"/>
  </p:sldMasterIdLst>
  <p:notesMasterIdLst>
    <p:notesMasterId xmlns:r="http://schemas.openxmlformats.org/officeDocument/2006/relationships" r:id="Rab63bc7211b84978"/>
  </p:notesMasterIdLst>
  <p:sldIdLst>
    <p:sldId xmlns:r="http://schemas.openxmlformats.org/officeDocument/2006/relationships" id="256" r:id="R47730e5a34f94d2d"/>
    <p:sldId xmlns:r="http://schemas.openxmlformats.org/officeDocument/2006/relationships" id="257" r:id="R9c8bb8ee970f42a6"/>
    <p:sldId xmlns:r="http://schemas.openxmlformats.org/officeDocument/2006/relationships" id="258" r:id="R0ed23c5b65b64e89"/>
    <p:sldId xmlns:r="http://schemas.openxmlformats.org/officeDocument/2006/relationships" id="259" r:id="R2c4c9cb9307d4e9a"/>
    <p:sldId xmlns:r="http://schemas.openxmlformats.org/officeDocument/2006/relationships" id="260" r:id="R8702ae2edb40466d"/>
    <p:sldId xmlns:r="http://schemas.openxmlformats.org/officeDocument/2006/relationships" id="261" r:id="R9687551c21f14813"/>
    <p:sldId xmlns:r="http://schemas.openxmlformats.org/officeDocument/2006/relationships" id="262" r:id="R619ec12cdade4af9"/>
    <p:sldId xmlns:r="http://schemas.openxmlformats.org/officeDocument/2006/relationships" id="263" r:id="R6e4457cfc25a4fb9"/>
    <p:sldId xmlns:r="http://schemas.openxmlformats.org/officeDocument/2006/relationships" id="264" r:id="Ra13dc322af9c46d2"/>
    <p:sldId xmlns:r="http://schemas.openxmlformats.org/officeDocument/2006/relationships" id="265" r:id="Rb9a5c68e610e4aba"/>
    <p:sldId xmlns:r="http://schemas.openxmlformats.org/officeDocument/2006/relationships" id="266" r:id="R380d004575544307"/>
    <p:sldId xmlns:r="http://schemas.openxmlformats.org/officeDocument/2006/relationships" id="267" r:id="R3e642c5aaee4444f"/>
    <p:sldId xmlns:r="http://schemas.openxmlformats.org/officeDocument/2006/relationships" id="268" r:id="R0ae5fce9eea745a3"/>
    <p:sldId xmlns:r="http://schemas.openxmlformats.org/officeDocument/2006/relationships" id="269" r:id="R193b28b49ada4861"/>
    <p:sldId xmlns:r="http://schemas.openxmlformats.org/officeDocument/2006/relationships" id="270" r:id="Rb1293c69eade49f8"/>
    <p:sldId xmlns:r="http://schemas.openxmlformats.org/officeDocument/2006/relationships" id="271" r:id="R417cc23f85654ba8"/>
    <p:sldId xmlns:r="http://schemas.openxmlformats.org/officeDocument/2006/relationships" id="272" r:id="R5cb0335af8894887"/>
    <p:sldId xmlns:r="http://schemas.openxmlformats.org/officeDocument/2006/relationships" id="273" r:id="R2cc61857da4349c5"/>
    <p:sldId xmlns:r="http://schemas.openxmlformats.org/officeDocument/2006/relationships" id="274" r:id="R475b54c9475145e1"/>
    <p:sldId xmlns:r="http://schemas.openxmlformats.org/officeDocument/2006/relationships" id="275" r:id="Rc170dc602db3429b"/>
    <p:sldId xmlns:r="http://schemas.openxmlformats.org/officeDocument/2006/relationships" id="276" r:id="R48a4024e8a0f4129"/>
    <p:sldId xmlns:r="http://schemas.openxmlformats.org/officeDocument/2006/relationships" id="277" r:id="Rfa0df83fef1f4b24"/>
    <p:sldId xmlns:r="http://schemas.openxmlformats.org/officeDocument/2006/relationships" id="278" r:id="R31d63176191347b7"/>
    <p:sldId xmlns:r="http://schemas.openxmlformats.org/officeDocument/2006/relationships" id="279" r:id="R08ecf6b985dc43ec"/>
    <p:sldId xmlns:r="http://schemas.openxmlformats.org/officeDocument/2006/relationships" id="280" r:id="Ref3392d46be34e31"/>
    <p:sldId xmlns:r="http://schemas.openxmlformats.org/officeDocument/2006/relationships" id="281" r:id="Rb07ad144c7144b40"/>
    <p:sldId xmlns:r="http://schemas.openxmlformats.org/officeDocument/2006/relationships" id="282" r:id="Rb9ac71fa8abf4971"/>
    <p:sldId xmlns:r="http://schemas.openxmlformats.org/officeDocument/2006/relationships" id="283" r:id="Re549a19b922a49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a89c184aa649ff" /><Relationship Type="http://schemas.openxmlformats.org/officeDocument/2006/relationships/slideMaster" Target="/ppt/slideMasters/slideMaster1.xml" Id="Rfbb43abbbdbe404e" /><Relationship Type="http://schemas.openxmlformats.org/officeDocument/2006/relationships/notesMaster" Target="/ppt/notesMasters/notesMaster1.xml" Id="Rab63bc7211b84978" /><Relationship Type="http://schemas.openxmlformats.org/officeDocument/2006/relationships/presProps" Target="/ppt/presProps.xml" Id="R299864711ce043ea" /><Relationship Type="http://schemas.openxmlformats.org/officeDocument/2006/relationships/tableStyles" Target="/ppt/tableStyles.xml" Id="Ra21a7ae7a7f84fdc" /><Relationship Type="http://schemas.openxmlformats.org/officeDocument/2006/relationships/slide" Target="/ppt/slides/slide1.xml" Id="R47730e5a34f94d2d" /><Relationship Type="http://schemas.openxmlformats.org/officeDocument/2006/relationships/slide" Target="/ppt/slides/slide2.xml" Id="R9c8bb8ee970f42a6" /><Relationship Type="http://schemas.openxmlformats.org/officeDocument/2006/relationships/slide" Target="/ppt/slides/slide3.xml" Id="R0ed23c5b65b64e89" /><Relationship Type="http://schemas.openxmlformats.org/officeDocument/2006/relationships/slide" Target="/ppt/slides/slide4.xml" Id="R2c4c9cb9307d4e9a" /><Relationship Type="http://schemas.openxmlformats.org/officeDocument/2006/relationships/slide" Target="/ppt/slides/slide5.xml" Id="R8702ae2edb40466d" /><Relationship Type="http://schemas.openxmlformats.org/officeDocument/2006/relationships/slide" Target="/ppt/slides/slide6.xml" Id="R9687551c21f14813" /><Relationship Type="http://schemas.openxmlformats.org/officeDocument/2006/relationships/slide" Target="/ppt/slides/slide7.xml" Id="R619ec12cdade4af9" /><Relationship Type="http://schemas.openxmlformats.org/officeDocument/2006/relationships/slide" Target="/ppt/slides/slide8.xml" Id="R6e4457cfc25a4fb9" /><Relationship Type="http://schemas.openxmlformats.org/officeDocument/2006/relationships/slide" Target="/ppt/slides/slide9.xml" Id="Ra13dc322af9c46d2" /><Relationship Type="http://schemas.openxmlformats.org/officeDocument/2006/relationships/slide" Target="/ppt/slides/slide10.xml" Id="Rb9a5c68e610e4aba" /><Relationship Type="http://schemas.openxmlformats.org/officeDocument/2006/relationships/slide" Target="/ppt/slides/slide11.xml" Id="R380d004575544307" /><Relationship Type="http://schemas.openxmlformats.org/officeDocument/2006/relationships/slide" Target="/ppt/slides/slide12.xml" Id="R3e642c5aaee4444f" /><Relationship Type="http://schemas.openxmlformats.org/officeDocument/2006/relationships/slide" Target="/ppt/slides/slide13.xml" Id="R0ae5fce9eea745a3" /><Relationship Type="http://schemas.openxmlformats.org/officeDocument/2006/relationships/slide" Target="/ppt/slides/slide14.xml" Id="R193b28b49ada4861" /><Relationship Type="http://schemas.openxmlformats.org/officeDocument/2006/relationships/slide" Target="/ppt/slides/slide15.xml" Id="Rb1293c69eade49f8" /><Relationship Type="http://schemas.openxmlformats.org/officeDocument/2006/relationships/slide" Target="/ppt/slides/slide16.xml" Id="R417cc23f85654ba8" /><Relationship Type="http://schemas.openxmlformats.org/officeDocument/2006/relationships/slide" Target="/ppt/slides/slide17.xml" Id="R5cb0335af8894887" /><Relationship Type="http://schemas.openxmlformats.org/officeDocument/2006/relationships/slide" Target="/ppt/slides/slide18.xml" Id="R2cc61857da4349c5" /><Relationship Type="http://schemas.openxmlformats.org/officeDocument/2006/relationships/slide" Target="/ppt/slides/slide19.xml" Id="R475b54c9475145e1" /><Relationship Type="http://schemas.openxmlformats.org/officeDocument/2006/relationships/slide" Target="/ppt/slides/slide20.xml" Id="Rc170dc602db3429b" /><Relationship Type="http://schemas.openxmlformats.org/officeDocument/2006/relationships/slide" Target="/ppt/slides/slide21.xml" Id="R48a4024e8a0f4129" /><Relationship Type="http://schemas.openxmlformats.org/officeDocument/2006/relationships/slide" Target="/ppt/slides/slide22.xml" Id="Rfa0df83fef1f4b24" /><Relationship Type="http://schemas.openxmlformats.org/officeDocument/2006/relationships/slide" Target="/ppt/slides/slide23.xml" Id="R31d63176191347b7" /><Relationship Type="http://schemas.openxmlformats.org/officeDocument/2006/relationships/slide" Target="/ppt/slides/slide24.xml" Id="R08ecf6b985dc43ec" /><Relationship Type="http://schemas.openxmlformats.org/officeDocument/2006/relationships/slide" Target="/ppt/slides/slide25.xml" Id="Ref3392d46be34e31" /><Relationship Type="http://schemas.openxmlformats.org/officeDocument/2006/relationships/slide" Target="/ppt/slides/slide26.xml" Id="Rb07ad144c7144b40" /><Relationship Type="http://schemas.openxmlformats.org/officeDocument/2006/relationships/slide" Target="/ppt/slides/slide27.xml" Id="Rb9ac71fa8abf4971" /><Relationship Type="http://schemas.openxmlformats.org/officeDocument/2006/relationships/slide" Target="/ppt/slides/slide28.xml" Id="Re549a19b922a49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5b9c17757c4f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3df525da764b07" /><Relationship Type="http://schemas.openxmlformats.org/officeDocument/2006/relationships/notesMaster" Target="/ppt/notesMasters/notesMaster1.xml" Id="Ra5ce7d39d24c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5b0acbea4146ff" /><Relationship Type="http://schemas.openxmlformats.org/officeDocument/2006/relationships/notesMaster" Target="/ppt/notesMasters/notesMaster1.xml" Id="R403a789d592548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f0560a44b4492f" /><Relationship Type="http://schemas.openxmlformats.org/officeDocument/2006/relationships/notesMaster" Target="/ppt/notesMasters/notesMaster1.xml" Id="R27500ed7851e4e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b4475a91914425" /><Relationship Type="http://schemas.openxmlformats.org/officeDocument/2006/relationships/notesMaster" Target="/ppt/notesMasters/notesMaster1.xml" Id="R17bd49b7210b42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90d7b367bba4165" /><Relationship Type="http://schemas.openxmlformats.org/officeDocument/2006/relationships/notesMaster" Target="/ppt/notesMasters/notesMaster1.xml" Id="R1623f0892338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156846a17745f4" /><Relationship Type="http://schemas.openxmlformats.org/officeDocument/2006/relationships/notesMaster" Target="/ppt/notesMasters/notesMaster1.xml" Id="R391a10bc557a4b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58a904a4024f2a" /><Relationship Type="http://schemas.openxmlformats.org/officeDocument/2006/relationships/notesMaster" Target="/ppt/notesMasters/notesMaster1.xml" Id="R6c4020dcdc4f41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9246d77cd342f1" /><Relationship Type="http://schemas.openxmlformats.org/officeDocument/2006/relationships/notesMaster" Target="/ppt/notesMasters/notesMaster1.xml" Id="R999cb27d988042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e263f7e6be440f" /><Relationship Type="http://schemas.openxmlformats.org/officeDocument/2006/relationships/notesMaster" Target="/ppt/notesMasters/notesMaster1.xml" Id="Rc26fd202bd9745c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05e2186880495d" /><Relationship Type="http://schemas.openxmlformats.org/officeDocument/2006/relationships/notesMaster" Target="/ppt/notesMasters/notesMaster1.xml" Id="R79609cf485fc40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26ef4ab8074d75" /><Relationship Type="http://schemas.openxmlformats.org/officeDocument/2006/relationships/notesMaster" Target="/ppt/notesMasters/notesMaster1.xml" Id="R060a9828f17c4b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0c62b4cb3045f1" /><Relationship Type="http://schemas.openxmlformats.org/officeDocument/2006/relationships/notesMaster" Target="/ppt/notesMasters/notesMaster1.xml" Id="Rcdf17063858c46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5263e868e74fac" /><Relationship Type="http://schemas.openxmlformats.org/officeDocument/2006/relationships/notesMaster" Target="/ppt/notesMasters/notesMaster1.xml" Id="R44cb2dbba5aa47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f7e1c514a84835" /><Relationship Type="http://schemas.openxmlformats.org/officeDocument/2006/relationships/notesMaster" Target="/ppt/notesMasters/notesMaster1.xml" Id="Rb76b762e9f454c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663ef08331f43d8" /><Relationship Type="http://schemas.openxmlformats.org/officeDocument/2006/relationships/notesMaster" Target="/ppt/notesMasters/notesMaster1.xml" Id="R643a0c9990bd4c1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e3a339485d6462d" /><Relationship Type="http://schemas.openxmlformats.org/officeDocument/2006/relationships/notesMaster" Target="/ppt/notesMasters/notesMaster1.xml" Id="Ra5b45b495a3a4a2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667699860d4ea3" /><Relationship Type="http://schemas.openxmlformats.org/officeDocument/2006/relationships/notesMaster" Target="/ppt/notesMasters/notesMaster1.xml" Id="Rd6a7085ce89640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861111a0714ab3" /><Relationship Type="http://schemas.openxmlformats.org/officeDocument/2006/relationships/notesMaster" Target="/ppt/notesMasters/notesMaster1.xml" Id="Re552b0e3fc234b3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ab58950ad3c413f" /><Relationship Type="http://schemas.openxmlformats.org/officeDocument/2006/relationships/notesMaster" Target="/ppt/notesMasters/notesMaster1.xml" Id="Rf783d0d7ff7442c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bb752a3d9c34dfd" /><Relationship Type="http://schemas.openxmlformats.org/officeDocument/2006/relationships/notesMaster" Target="/ppt/notesMasters/notesMaster1.xml" Id="R0d47021a65b246e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8048b831264236" /><Relationship Type="http://schemas.openxmlformats.org/officeDocument/2006/relationships/notesMaster" Target="/ppt/notesMasters/notesMaster1.xml" Id="R0729a30a52844c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61b2a3d12394cef" /><Relationship Type="http://schemas.openxmlformats.org/officeDocument/2006/relationships/notesMaster" Target="/ppt/notesMasters/notesMaster1.xml" Id="R97ca24c08f36416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a5a2b14aa58475a" /><Relationship Type="http://schemas.openxmlformats.org/officeDocument/2006/relationships/notesMaster" Target="/ppt/notesMasters/notesMaster1.xml" Id="R336c10cba2404d0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a57606164b1488f" /><Relationship Type="http://schemas.openxmlformats.org/officeDocument/2006/relationships/notesMaster" Target="/ppt/notesMasters/notesMaster1.xml" Id="R87af5cd8d8bc497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c4e37c9341f4b5e" /><Relationship Type="http://schemas.openxmlformats.org/officeDocument/2006/relationships/notesMaster" Target="/ppt/notesMasters/notesMaster1.xml" Id="R203a0c1f208348f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02451e76ffe4eb6" /><Relationship Type="http://schemas.openxmlformats.org/officeDocument/2006/relationships/notesMaster" Target="/ppt/notesMasters/notesMaster1.xml" Id="R1a79fb4fd60e4cf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06fc21a983f44a1" /><Relationship Type="http://schemas.openxmlformats.org/officeDocument/2006/relationships/notesMaster" Target="/ppt/notesMasters/notesMaster1.xml" Id="Rfa0968ddbc4a4f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d183f14f634e42" /><Relationship Type="http://schemas.openxmlformats.org/officeDocument/2006/relationships/notesMaster" Target="/ppt/notesMasters/notesMaster1.xml" Id="R092366b1f2f941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กล่าวต้อนรับบุคลากรโรงพยาบาลวาริชภูมิ แนะนำตัว เปรมศักดิ์ เทพวงสา นักวิชาการชำนาญการ โรงพยาบาลโคกศรีสุพรรณ วันนี้เรียนรู้วิธีตรวจความพร้อมก่อนส่งและติดตามผลหลังส่ง ใช้ตัวอย่างสมมติ ไม่มีการเปิดข้อมูลผู้ป่วยจริงบนจอ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ข้อเสนอแผนการอบรมและตัวอย่างสมมติ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  <a:p xmlns:a="http://schemas.openxmlformats.org/drawingml/2006/main">
            <a:r>
              <a:t>พื้นหลังสร้างด้วย built-in Imagegen เป็นภาพนามธรรม ไม่มีภาพสถานที่จริง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ถามผู้เข้าอบรมว่าใครทำงานเวชระเบียน งานเคลม งานการเงิน และ IT เพื่อเลือกตัวอย่างให้ตรงบทบาท ไม่สัญญาว่าระบบจะเพิ่มรายได้เป็นตัวเลขหากยังไม่มีผลวัดจริง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README.md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เวลาเป็นแนวทางสำหรับวิทยากร สามารถลดเหลือ 60 นาทีโดยย่อส่วน IPD/การเงินและให้ฝึกเพียงหนึ่งเคส ไม่ใช้เวลาส่วนใหญ่กับการตั้งค่าฐานข้อมูล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ข้อเสนอแผนการอบรมและตัวอย่างสมมติ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ความสามารถอ้างอิงโค้ดในชุดปัจจุบัน ความพร้อมของแต่ละโรงพยาบาลขึ้นกับการเชื่อมต่อฐานข้อมูล สิทธิผู้ใช้ และการตั้งค่าระบบปลายทาง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README.md; src/config/menuDefinitions.ts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อธิบายทีละขั้น โดยแยกการบันทึกข้อมูล การส่งข้อมูล และการได้รับเงินออกจากกัน ให้ผู้เรียนบอกว่าตนรับผิดชอบขั้นตอนไหน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README.md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นี่เป็นข้อเสนอการแบ่งงาน ต้องตกลงผู้รับผิดชอบจริงของโรงพยาบาล ไม่ควรให้ทุกคนใช้บัญชีเดียวกัน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src/config/menuDefinitions.ts; src/pages/LoginPage.tsx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ชี้ตำแหน่งเมนูตามสิทธิที่ได้รับ เมนูที่มองไม่เห็นอาจเกิดจากสิทธิผู้ใช้ ไม่ใช่ข้อมูลหาย ชื่อเมนูอ้างอิง menuDefinitions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src/config/menuDefinitions.ts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สาธิตล็อกอินด้วยบัญชีฝึกอบรม ไม่แสดงรหัสผ่านหรือค่าเชื่อมต่อฐานข้อมูลบนจอ URL ใน README เป็นเครื่องพัฒนา อย่านำ localhost ไปบอกผู้เข้าอบรมว่าเป็น URL โรงพยาบาลวาริชภูมิ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src/pages/LoginPage.tsx; src/config/menuDefinitions.ts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คลิก รายการ OPD เลือกวันเริ่มและวันสิ้นสุด กด ดึงข้อมูลใหม่ สาธิตกรองข้อมูลรอแก้ไข แล้วเปลี่ยนกลับทั้งหมด เน้นตรวจ VN และวันรับบริการก่อนเปิดรายละเอียด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src/pages/StaffPage.tsx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เปิดหนึ่ง visit ให้ผู้เรียนไล่ตรวจทั้งสองฝั่ง หากพบข้อมูลไม่ตรงให้ตรวจต้นทางก่อนแก้ การมีคำสั่ง Lab ไม่เท่ากับมีค่าผล และมี Diag อย่างเดียวไม่ยืนยันว่ามีบริการที่เรียกเก็บ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src/components/DetailModal.tsx; src/config/fundOperationalGuideCatalog.ts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 คู่มือกองทุน พิมพ์ ANC หรือ Z30.4 ให้ดูว่าช่องค้นหาลดรายการตามคำค้น หน้านี้ครอบคลุมรายชื่อกองทุนที่กำหนดในโปรแกรม แต่ไม่ได้แปลว่าหน่วยบริการมีสิทธิเบิกทุกกองทุน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src/pages/GuidePage.tsx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ใช้ตัวอย่างตรวจฟัน ANC ในคู่มือเพื่อชี้ว่าแต่ละรหัสเป็นคนละช่อง ไม่ให้ผู้เรียนคัดลอกรหัสเพียงเพื่อทำให้สถานะผ่าน ต้องตรวจข้อเท็จจริงและรหัสย่อยที่เหมาะสม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src/config/fundOperationalGuideCatalog.ts; src/utils/ancDentalRules.ts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ตั้งโจทย์ว่ามี Diag และข้อมูลครรภ์ แต่ยังไม่พบ ADP 30011 ถามผู้เรียนว่าต้องตรวจอะไร คำตอบคือยืนยันว่ามีบริการ ANC Visit จริง ตรวจรายการค่าใช้จ่ายและการผูกรหัส แล้วให้ผู้รับผิดชอบแก้ต้นทางและดึงข้อมูลใหม่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src/config/fundDefinitions.ts; src/pages/SpecificFundPage.tsx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อธิบายว่ารหัสแสดงแบบไม่มีจุดตามตารางในโปรแกรม FP003_3 มีเกณฑ์ในโปรแกรมไม่เกิน 2 แผงต่อปี FP003_4 ไม่เกิน 5 ครั้งต่อปี ให้เปิดคู่มือประกอบและตรวจประวัติทั้งปี ไม่ใช้จำนวนที่เห็นเฉพาะช่วงวันที่ค้นหา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src/utils/familyPlanningRules.ts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เปิดรายละเอียดกองทุนในหน้าคู่มือ ชี้ว่าเงื่อนไขไม่ใช่รายการที่ระบบตรวจอัตโนมัติครบทุกข้อ ขยายตัวอักษรบนเครื่องสาธิตตามขนาดจอ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src/config/fundOperationalGuideCatalog.ts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ไม่ใช้ตารางเป็นคำสั่งรักษา หากไม่พบยาหรือชื่อ Lab ที่ใช้จริง ให้ตรวจการตั้งค่ารหัสและรายงานผู้ดูแล ระบบอาจค้นหาจากทั้งรหัสและชื่อรายการ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src/config/fundOperationalGuideCatalog.ts; src/utils/herbalMedicationRules.ts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ระบบมีฟังก์ชันช่วยเติมข้อมูลบางรายการซึ่งอาจเขียนกลับ HOSxP ก่อนใช้ต้องอ่านรายการเปลี่ยนแปลงและข้อความยืนยัน เคสฝึกไม่ควรยืนยันบันทึกข้อมูลผู้ป่วยจริง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src/pages/SpecificFundPage.tsx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เน้นว่ารายการบางกองทุนไป KTB หรือระบบเฉพาะ และงานพอกเข่าใช้ตรวจข้อมูล 43 แฟ้ม ไม่เลือกส่งทุกกองทุนผ่าน FDH โดยอัตโนมัติ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src/config/fundDefinitions.ts; src/config/fundOperationalGuideCatalog.ts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สำคัญ: หน้าส่งออกมีพฤติกรรมเมื่อไม่เลือกรายการ อาจใช้รายการพร้อมส่งที่มองเห็นทั้งหมด ต้องอ่านจำนวน เลือกส่ง ก่อนทุกครั้ง ไม่ยืนยันส่งซ้ำโดยไม่ตรวจประวัติ การส่งจริงให้ผู้รับผิดชอบโรงพยาบาลเป็นผู้ยืนยัน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src/pages/FDHCheckerPage.tsx; README.md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อธิบาย REP และ STM ตามประเภทไฟล์ที่หน่วยงานใช้จริง สถานะรับไฟล์ไม่ใช่การยืนยันว่าทุกรายการได้รับการจ่าย ให้ดูรายละเอียดต่อรายการ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README.md; src/pages/RepStmImportPage.tsx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ห้ามส่งซ้ำทันทีเพียงเพราะพบ Deny ต้องอ่านเหตุผลและแนวทางของรายการก่อน นำเข้าข้อมูลในระบบฝึกหรือไฟล์ที่ปกปิดข้อมูลแล้วเท่านั้น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src/pages/RepStmImportPage.tsx; src/pages/RepDenyPage.tsx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ส่วนนี้เป็นภาพรวม ไม่ควรอธิบายว่าใช้เกณฑ์ OPD แทน IPD ให้จัดรอบสอนเฉพาะงาน IPD/บัญชีเพิ่มเติมตามผู้รับผิดชอบ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src/config/menuDefinitions.ts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เฉลย: ตรวจเพศและกลุ่ม Diag ฝากครรภ์ ตรวจบริการ ANC จริงและรายการค่าใช้จ่าย ตรวจการผูกรหัส ADP ไม่เติมรหัสทันที ถ้ามีหลักฐานและผู้มีสิทธิ์แก้ต้นทางแล้วจึงโหลด VN เดิมใหม่และตรวจผล ไม่กดส่งเคลมจริง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ข้อเสนอแผนการอบรมและตัวอย่างสมมติ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เฉลย: ยังไม่สรุปว่าได้รับเงิน ตรวจเหตุผลปฏิเสธและจับคู่ให้ถูก visit ตรวจข้อมูลต้นทางแล้วกำหนดการแก้หรือติดตาม ไม่ส่งซ้ำโดยไม่ทราบสาเหตุ และตรวจ STM/รายการรับชำระเมื่อมีข้อมูลเข้ามา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ข้อเสนอแผนการอบรมและตัวอย่างสมมติ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หากแก้รหัสในต้นทางแล้วยังไม่เปลี่ยน ไม่ควรเติมข้อมูลซ้ำซ้อนเพื่อทดลอง ต้องตรวจการเชื่อมต่อและการตั้งค่ารหัสก่อน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src/pages/StaffPage.tsx; src/pages/LoginPage.tsx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ให้โรงพยาบาลเลือกบริการเริ่มต้นเองและกำหนดผู้ประสานงาน หลีกเลี่ยงการสื่อว่ามีการติดตั้งหรือเชื่อมต่อแล้วหากยังไม่ได้ยืนยัน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ข้อเสนอแผนการอบรมและตัวอย่างสมมติ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ใช้เป็น checklist สำหรับทีม ปรับรอบตามการทำงานจริงของโรงพยาบาล ข้อตกลงที่ต้องได้คือใครตรวจ ใครแก้ ใครส่ง และใครติดตาม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ข้อเสนอแผนการอบรมและตัวอย่างสมมติ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ทวนเป้าหมายด้วยการให้ผู้เข้าอบรมอธิบายขั้นตอนจากเคสที่ฝึก รับคำถามเฉพาะหน้างาน และตกลงผู้ประสานงานกับรอบติดตามหลังเริ่มใช้งาน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แหล่งข้อมูลโปรแกรม: ข้อเสนอแผนการอบรมและตัวอย่างสมมติ</a:t>
            </a:r>
          </a:p>
          <a:p xmlns:a="http://schemas.openxmlformats.org/drawingml/2006/main">
            <a:r>
              <a:t>เอกสารสำหรับวันที่ 15 กันยายน 2569 ข้อมูลกฎอ้างอิงโค้ดในชุดที่เตรียมสอน ตรวจประกาศและการตั้งค่าหน่วยบริการก่อนใช้เคลมจริง</a:t>
            </a:r>
          </a:p>
          <a:p xmlns:a="http://schemas.openxmlformats.org/drawingml/2006/main">
            <a:r>
              <a:t>พื้นหลังสร้างด้วย built-in Imagegen เป็นภาพนามธรรม ไม่มีภาพสถานที่จริง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dd095cc3b45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53203b21104221" /><Relationship Type="http://schemas.openxmlformats.org/officeDocument/2006/relationships/slideLayout" Target="/ppt/slideLayouts/slideLayout1.xml" Id="R56b5b327f1d243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b5b327f1d243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d53fbf2234d1c" /><Relationship Type="http://schemas.openxmlformats.org/officeDocument/2006/relationships/image" Target="/ppt/media/image.png" Id="R898cfc370ce84698" /><Relationship Type="http://schemas.openxmlformats.org/officeDocument/2006/relationships/notesSlide" Target="/ppt/notesSlides/notesSlide1.xml" Id="R119326ecb4f64b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229ec72264c35" /><Relationship Type="http://schemas.openxmlformats.org/officeDocument/2006/relationships/notesSlide" Target="/ppt/notesSlides/notesSlide2.xml" Id="Rbb5d9283314d4c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6d21215d04377" /><Relationship Type="http://schemas.openxmlformats.org/officeDocument/2006/relationships/notesSlide" Target="/ppt/notesSlides/notesSlide3.xml" Id="R85f3553e33434d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274320b1a4ec0" /><Relationship Type="http://schemas.openxmlformats.org/officeDocument/2006/relationships/notesSlide" Target="/ppt/notesSlides/notesSlide4.xml" Id="R2460e3f4d73049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658ec3787401c" /><Relationship Type="http://schemas.openxmlformats.org/officeDocument/2006/relationships/notesSlide" Target="/ppt/notesSlides/notesSlide5.xml" Id="R9dc539d7d56f49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133e4a0e5451a" /><Relationship Type="http://schemas.openxmlformats.org/officeDocument/2006/relationships/notesSlide" Target="/ppt/notesSlides/notesSlide6.xml" Id="Rd052469307af4d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dea4981614167" /><Relationship Type="http://schemas.openxmlformats.org/officeDocument/2006/relationships/notesSlide" Target="/ppt/notesSlides/notesSlide7.xml" Id="Rbc53ea3309fc42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b665ade13491b" /><Relationship Type="http://schemas.openxmlformats.org/officeDocument/2006/relationships/notesSlide" Target="/ppt/notesSlides/notesSlide8.xml" Id="R0fa0a758b90e48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760c03c974d45" /><Relationship Type="http://schemas.openxmlformats.org/officeDocument/2006/relationships/notesSlide" Target="/ppt/notesSlides/notesSlide9.xml" Id="Rb9dc9f4d1d0f43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308e2878842ab" /><Relationship Type="http://schemas.openxmlformats.org/officeDocument/2006/relationships/notesSlide" Target="/ppt/notesSlides/notesSlide10.xml" Id="R9051ebb9756d45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4e82e61464927" /><Relationship Type="http://schemas.openxmlformats.org/officeDocument/2006/relationships/image" Target="/ppt/media/image2.png" Id="R228ac7c7a4424868" /><Relationship Type="http://schemas.openxmlformats.org/officeDocument/2006/relationships/notesSlide" Target="/ppt/notesSlides/notesSlide11.xml" Id="Rb109d79dbfa043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4b2b52e744f91" /><Relationship Type="http://schemas.openxmlformats.org/officeDocument/2006/relationships/notesSlide" Target="/ppt/notesSlides/notesSlide12.xml" Id="R663b3e270f7e40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b8e9288ee4596" /><Relationship Type="http://schemas.openxmlformats.org/officeDocument/2006/relationships/notesSlide" Target="/ppt/notesSlides/notesSlide13.xml" Id="R761e7892c993463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8485f9edf40a9" /><Relationship Type="http://schemas.openxmlformats.org/officeDocument/2006/relationships/notesSlide" Target="/ppt/notesSlides/notesSlide14.xml" Id="R3f346a5f4aa8453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a17a7f57249b1" /><Relationship Type="http://schemas.openxmlformats.org/officeDocument/2006/relationships/image" Target="/ppt/media/image3.png" Id="Reb75da0d4129431c" /><Relationship Type="http://schemas.openxmlformats.org/officeDocument/2006/relationships/notesSlide" Target="/ppt/notesSlides/notesSlide15.xml" Id="R445a0f655c1142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e5935accb43fe" /><Relationship Type="http://schemas.openxmlformats.org/officeDocument/2006/relationships/notesSlide" Target="/ppt/notesSlides/notesSlide16.xml" Id="Rb01f8123c8054b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4a38cd19a427f" /><Relationship Type="http://schemas.openxmlformats.org/officeDocument/2006/relationships/notesSlide" Target="/ppt/notesSlides/notesSlide17.xml" Id="R3586cc93a4b042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c67b495094f32" /><Relationship Type="http://schemas.openxmlformats.org/officeDocument/2006/relationships/notesSlide" Target="/ppt/notesSlides/notesSlide18.xml" Id="R49e5265f5fb54e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3abaa342148af" /><Relationship Type="http://schemas.openxmlformats.org/officeDocument/2006/relationships/notesSlide" Target="/ppt/notesSlides/notesSlide19.xml" Id="Rc7dbe5606a52407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e1027a1104709" /><Relationship Type="http://schemas.openxmlformats.org/officeDocument/2006/relationships/notesSlide" Target="/ppt/notesSlides/notesSlide20.xml" Id="R441a05bfe5f6490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98ffad33a45f6" /><Relationship Type="http://schemas.openxmlformats.org/officeDocument/2006/relationships/notesSlide" Target="/ppt/notesSlides/notesSlide21.xml" Id="R59b8fd968eca410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4c570f8334941" /><Relationship Type="http://schemas.openxmlformats.org/officeDocument/2006/relationships/notesSlide" Target="/ppt/notesSlides/notesSlide22.xml" Id="Ra85fd02772c8418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bbe1548b24d87" /><Relationship Type="http://schemas.openxmlformats.org/officeDocument/2006/relationships/notesSlide" Target="/ppt/notesSlides/notesSlide23.xml" Id="R1370f353345a458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c7ef6b9bb4663" /><Relationship Type="http://schemas.openxmlformats.org/officeDocument/2006/relationships/notesSlide" Target="/ppt/notesSlides/notesSlide24.xml" Id="R95a8396604ec4f0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feb4522b64db5" /><Relationship Type="http://schemas.openxmlformats.org/officeDocument/2006/relationships/notesSlide" Target="/ppt/notesSlides/notesSlide25.xml" Id="Rbf26430ab48644f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fbe861eae4f36" /><Relationship Type="http://schemas.openxmlformats.org/officeDocument/2006/relationships/notesSlide" Target="/ppt/notesSlides/notesSlide26.xml" Id="R81a173f347c549f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0f93d38a64469" /><Relationship Type="http://schemas.openxmlformats.org/officeDocument/2006/relationships/notesSlide" Target="/ppt/notesSlides/notesSlide27.xml" Id="R6b3ef13e1498450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e9a5af3e74e28" /><Relationship Type="http://schemas.openxmlformats.org/officeDocument/2006/relationships/image" Target="/ppt/media/image4.png" Id="R84f5180b98a54620" /><Relationship Type="http://schemas.openxmlformats.org/officeDocument/2006/relationships/notesSlide" Target="/ppt/notesSlides/notesSlide28.xml" Id="Rfffab3f7a9b94b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cfc370ce8469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CF177A9C-ACD6-4D01-B75D-370C47C3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CE6E7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8CE6E7"/>
                </a:solidFill>
                <a:latin typeface="Tahoma"/>
                <a:ea typeface="Tahoma"/>
                <a:cs typeface="Tahoma"/>
              </a:rPr>
              <a:t>โรงพยาบาลวาริชภูมิ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F9FEA71C-FF3E-47BE-B4DB-1E883E1D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7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FDH Checker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973DDC2-C483-4B64-8938-92CF1034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DBF3FA"/>
                </a:solidFill>
                <a:latin typeface="Tahoma"/>
                <a:ea typeface="Tahoma"/>
                <a:cs typeface="Tahoma"/>
              </a:defRPr>
            </a:pPr>
            <a:r>
              <a:rPr sz="3300" b="0">
                <a:solidFill>
                  <a:srgbClr val="DBF3FA"/>
                </a:solidFill>
                <a:latin typeface="Tahoma"/>
                <a:ea typeface="Tahoma"/>
                <a:cs typeface="Tahoma"/>
              </a:rPr>
              <a:t>แนะนำและอบรมการใช้งาน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158E450-9154-4F1B-8EEF-3C91C4AB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เปรมศักดิ์ เทพวงสา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AEE1801-9C13-48FB-B0F5-34D95F2D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5E5EC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C5E5EC"/>
                </a:solidFill>
                <a:latin typeface="Tahoma"/>
                <a:ea typeface="Tahoma"/>
                <a:cs typeface="Tahoma"/>
              </a:rPr>
              <a:t>นักวิชาการชำนาญการ  โรงพยาบาลโคกศรีสุพรรณ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C95CFC6-46FB-45E4-8291-D347E276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95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CE6E7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8CE6E7"/>
                </a:solidFill>
                <a:latin typeface="Tahoma"/>
                <a:ea typeface="Tahoma"/>
                <a:cs typeface="Tahoma"/>
              </a:rPr>
              <a:t>15 กันยายน 2569</a:t>
            </a:r>
          </a:p>
        </p:txBody>
      </p:sp>
    </p:spTree>
    <p:extLst>
      <p:ext uri="{BB962C8B-B14F-4D97-AF65-F5344CB8AC3E}">
        <p14:creationId xmlns:p14="http://schemas.microsoft.com/office/powerpoint/2010/main" val="1332447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900F679A-0ECA-4629-A538-BDCDEDE3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เป้าหมายการอบรม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27B399E-D22A-499F-8E2A-EBEABA75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430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ผู้เข้าอบรมทำงานกับ visit ได้ตั้งแต่ค้นหาจนถึงติดตามผล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3AD520-6EE3-4BE8-818D-3B9279F6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ค้นหาและตรวจ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1E6149-D823-4EFA-8CA3-3FBF9970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21932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เลือกวันรับบริการ เปิดรายละเอียด และอธิบายรายการที่ขาด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C30C3C5-9961-419D-B5FF-5B7D524E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แก้ไขให้ตรงบริการจริง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29F3342-546E-49CB-A163-4E673F6D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24200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แยก Diag หัตถการ ADP และหลักฐานประกอบ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09E1FFB-1BA5-416C-8DCE-F1E5FDA1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ติดตามหลังส่ง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72E8891-6F88-417F-BC9D-1C2A8FF0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290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อ่านผลรับข้อมูล แก้รายการปฏิเสธ และกระทบยอด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61BFAD-709F-4A40-AA35-9B8BBC3A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66E8B-F4BB-4D4C-B398-B857741D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58550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341FAB6A-0011-4613-8D7D-E6C0656E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กำหนดการแนะนำ 90 นาที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92DCBF-36A8-4012-AF8F-03730058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15 นาที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0FA06E-A75B-4525-AA7A-B60BE402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ภาพรวมระบบและบทบาทผู้ใช้งาน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79D0373-D1C6-4A81-B441-48E9DA5D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35 นาที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7470789-E0A5-4D06-82C3-99F69E0C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สาธิตค้นหา visit ตรวจข้อมูล และเตรียมส่ง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3FA807B-4275-4CE6-AAC2-DA770DAD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25 นาที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CC3913F-535C-48B4-A764-F34169F7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ฝึกปฏิบัติจากตัวอย่างและตรวจคำตอบร่วมกัน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E24CD5B-992C-41D5-80BB-E4C95FA7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15 นาที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32C541-036E-4575-A229-30ADCDD9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ติดตามผลหลังส่ง คำถาม และแผนเริ่มใช้งาน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03320E7-1794-4941-B38C-4B1A1647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A2A2C9C-ABBF-4CFB-98E0-509ED8BA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29999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86E14219-22C7-4C68-B8F5-226800E6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FDH Checker ช่วยงานส่วนไหน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BB6D32-6A0F-462B-A00E-02ADC055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430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รวมจุดตรวจความพร้อมและข้อมูลติดตามเคลมไว้ในงานประจำ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FC1415E-6F69-4029-8301-580FD339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ก่อนส่ง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E7CF8CB-613F-4AAB-99AA-9AA63152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21932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 OPD/IPD และเงื่อนไขกองทุนจากข้อมูล HOSxP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0CD7BD6-F6BA-456C-9FD2-C8554140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ระหว่างแก้ไข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8E6BCF4-F390-4804-B7DC-BE2CDB59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24200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ดูรายการขาดและตรวจหลักฐานราย visit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4AB63E6-919E-4153-96E3-A3CD4F65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หลังส่ง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EABDECB-25FD-45A5-911D-761D5960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290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ติดตาม FDH, REP, STM และรายการปฏิเสธ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D311C0D-5EB4-4990-8224-F03D6ADA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ด้านการเงิน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8E0B94C-28D9-4890-93F9-9F8D500B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33950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ดูบัญชีลูกหนี้และกระทบยอดตามข้อมูลที่นำเข้า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A6F8EFA-0397-4BC0-8A3A-2026B711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B45FE805-C044-4627-B028-76608619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41872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354BC884-AED0-4E35-948E-A4B8480D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วงจรการทำงานของหนึ่ง visit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310172C-BB9C-46DE-9325-990C7B90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22C87E0-9416-47D8-965B-58954AA7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2057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HOSxP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030BB88-11A8-4ACA-8E8C-BB99ED87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บันทึกบริการจริง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B54C176-32C6-44EB-BD2A-8B06FE99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5737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40F8C12-2D2C-46E6-B723-9BAA222F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57525"/>
            <a:ext cx="2057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ตรวจข้อมูล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FA03E4-BD31-46A7-8F2D-2E25F40C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148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อ่านรายการขาด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D194022-A47B-4972-ADFD-AB21D5B7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5737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D68DF82-94B9-46C1-9C08-DD738583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57525"/>
            <a:ext cx="2057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แก้และตรวจซ้ำ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DD15B7F-2EC6-4753-96C6-08C0249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148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ยืนยันหลักฐาน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0DFA6E3-6C15-4ECA-B4BC-F5E2A5FC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5737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A4942CE-7650-4A35-8F41-5CC631F8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2057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ส่งตาม</a:t>
            </a:r>
          </a:p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ช่องทาง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D87DE37-3715-447D-B129-48070835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148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ตรวจผลรับข้อมูล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1B463468-71AE-480F-BB3C-B643F6F4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5737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F9759E52-8540-4A4D-82B6-010EB3EF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57525"/>
            <a:ext cx="2057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ติดตาม</a:t>
            </a:r>
          </a:p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การจ่าย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8AC1753-4FEF-49E2-B405-0127301B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REP / STM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93F55BBE-4331-4632-926C-DB6A0DDA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ข้อมูลครบในโปรแกรม ยังต้องตรวจผลรับข้อมูลและผลการจ่ายของกองทุน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961089E1-EF05-4710-8C5A-E3DEB3B8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6370CC96-061D-412A-90D7-CA09F1E0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01034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F7370F51-FCB7-4968-A96E-1C7B7959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บทบาทในการใช้งานร่วมกัน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7ECE746-708B-4686-BA4E-135C3335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ผู้ให้บริการ / เวชระเบียน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9FAE6D1-92FA-4711-BBE7-DB3071E7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ยืนยันข้อเท็จจริงและบันทึกรหัสให้ตรงเวชระเบียน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FB0716B-33D7-47B6-AD07-99C75B4E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งานประกัน / งานเคลม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6625DC0-F467-469E-817D-C5C42761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ตรวจเงื่อนไข เตรียมส่ง และติดตามรายการปฏิเสธ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0E8CD77-5A00-4E2B-BF4D-2FD6FE51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งานการเงิน / บัญชี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46C838F-661B-4E7C-9CDB-28CE5DAC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ตรวจยอดรับและกระทบยอดลูกหนี้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C7A53ED-842F-4AD9-988D-3D0F4279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ผู้ดูแลระบบ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27134CE-6442-44DB-ADB1-2764F18D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ตั้งค่าการเชื่อมต่อ อนุมัติผู้ใช้ และกำหนดสิทธิ์เมนู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C274CF4-9577-4001-A203-9ABDB925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0BA40339-8EF0-4AE7-B905-7AD3D785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02381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986EBB79-D216-4717-B65F-4E0504F1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เมนูหลักที่ใช้ในการสาธิต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BA9C6CC-CC6E-44DB-A8F9-33702655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รายการ OPD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C5D961C-1E09-49DB-9E86-7E64D920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ค้นหา visit และตรวจ OPD Pre-audit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AA9C71-BE3A-4007-928B-376A899B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รวมทุกช่องทาง</a:t>
            </a:r>
          </a:p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คู่มือกองทุน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4927AD0-7E48-426A-979B-68097ECA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ตรวจเงื่อนไขรายบริการและรหัสที่เกี่ยวข้อง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8174AD-61D4-41BB-AB4B-DF9E793E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ส่งออก OPD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3B2831A-89EE-4942-8588-E8BDA575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Preview / Preflight และเตรียม 16 แฟ้ม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91087A6-A529-4DCE-B9AD-AB0D94D6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สถานะ FDH / REP/STM</a:t>
            </a:r>
          </a:p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ติด C/Deny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2EA14CB-F823-4BED-90C2-B3E49DC7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ติดตามผลรับข้อมูลและรายการที่ต้องแก้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BFF0778-DC2B-40A3-8C13-5803A01D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34536403-070F-4364-BF56-AF60952D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120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E217C44F-7889-42B3-9B9A-3F78974F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เริ่มต้นเข้าสู่ระบบ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5765C78-3628-45ED-ACF6-5834296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  เปิด URL ระบบ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984D109-C16D-4A9E-8C1C-D86827E4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ใช้ที่อยู่ระบบที่ผู้ดูแลจัดให้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2A0EE73-D3E2-46E5-AEEC-0B4A6297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2  เข้าสู่ระบบ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EE98A57-B402-4D1F-A79C-A15A97E6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ผู้สมัครใหม่ต้องรอผู้ดูแลอนุมัติ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1CB8CE7-8F64-4616-99F3-023657C3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3  ตรวจสิทธิ์เมนู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340F1B-A725-4704-B145-7229B480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แจ้งผู้ดูแลหากเมนูงานที่รับผิดชอบยังไม่ปรากฏ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271FF4A-610B-44B1-B858-AAA306F4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4  เตรียมเคสฝึก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53810E8-0414-4260-BBAA-91897550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ใช้ข้อมูลทดสอบหรือข้อมูลที่ปกปิดตัวตนแล้ว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5DBB92F-06B9-46BF-8908-92CCCF2F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39BA7A4-1CDC-4600-BA29-F6F62C51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02160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D17A06A2-FC02-40B0-A13B-4EACFA52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ค้นหา visit ในรายการ OPD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72DEE8-1E3D-4FF0-8084-E7E8FF13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วันที่เริ่ม / วันที่สิ้นสุด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96D213-03DB-4CED-96F4-6100435D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เลือกช่วงวันบริการให้ตรงกับงานที่ตรวจ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940A423-ACE9-496A-B7C4-57E3FA67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ดึงข้อมูลใหม่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7176C0A-7E0F-4D9E-A9CF-B88CD1CB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รอโหลดข้อมูลแล้วตรวจจำนวนรายการ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381792E-4E25-48F7-A8DF-BB30E913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ตัวกรองสถานะ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1758EB9-06EA-42ED-BDAA-00AD84B4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เลือก “ข้อมูลรอแก้ไข” หรือ “พร้อมส่งเบิก”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5D01748-8E9C-4BA9-A5DA-ED2818F9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OPD Pre-audit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8763E80-5482-40F2-AF84-874F1C05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แยก “ห้ามส่ง” “ควรตรวจ” และ “ผ่านกฎ OPD”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B2F9A49-0A82-4577-BA15-DBA3AE0A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หากไม่พบรายการ ให้ตรวจช่วงวันและตัวกรองก่อนสรุปว่าข้อมูลหาย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6DF0F05-5CC5-4D54-B636-F23ED093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CBA07AD-BF83-409C-9C44-E45E20C7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307562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622637A7-D36F-47E2-90A5-DB7F4775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จุดตรวจในรายละเอียด visit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39A2C0E-639B-4A60-AC72-BA2B65B1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ตัวบุคคลและสิทธิ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FB2EE36-D915-40DC-B6DA-7CBD51D6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HN / CID และ VN หรือ AN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2DF5BAC-6D08-43DE-BBEC-A8F5038A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วันบริการและแผนก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9CA3DDD-8F20-42E0-B0F6-AD622CD5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สิทธิของวันรับบริการ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964956F-27D4-4262-9C12-840DEBEA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Authen เมื่อช่องทางกำหนด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DD86AC1-1A9F-42B0-A22D-8E911D0F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บริการและค่าใช้จ่าย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DCA2C72-D8C7-4663-BB65-D520FC4B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Diag หลักและร่วม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4A1CF35-7003-4FBE-8B00-44873FF5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385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Lab พร้อมผล / ยา / หัตถการ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DAF2395-0D51-4559-90E6-461AFAA0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ADP จำนวน และราคา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447FF15-C00B-4AB6-97E6-6A09923B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เวชระเบียนและผู้ให้บริการ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D9FEC8B2-D295-4E31-B14B-21DED0F5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BD68FBE9-21A0-488A-AC8C-E4276738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700991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93E8A910-6D0F-4A86-9E7E-AAEF4535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คู่มือกองทุนในโปรแกรม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ac7c7a4424868"/>
          <a:stretch xmlns:a="http://schemas.openxmlformats.org/drawingml/2006/main"/>
        </p:blipFill>
        <p:spPr>
          <a:xfrm xmlns:a="http://schemas.openxmlformats.org/drawingml/2006/main">
            <a:off x="1155538" y="1476375"/>
            <a:ext cx="6690049" cy="4552950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669360E-9F97-49C2-8A17-CFAA9A9D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ค้นหาชื่อบริการ</a:t>
            </a:r>
          </a:p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หรือรหัส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AD12EBE-8E2F-4B55-9B1D-22AD9121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ชื่อกองทุน เช่น ANC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401C725-142C-4256-AB3E-C3931E5E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รหัส เช่น Z30.4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31ECCA9-6E67-416D-AEB4-B117500E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เปิด Checklist บริการ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1C32F08-CE9E-49B2-A54E-8CACA2BD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0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อ่านช่องทางส่งก่อนคีย์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274649-5AFA-476E-9059-E0A52C33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ภาพหน้าคู่มือจากโปรแกรม ไม่มีข้อมูลผู้ป่วย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21FA4724-9ED2-4593-A095-C6689DFB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86136C0C-883F-4E46-8C6A-4C92AD38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34525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AEB35949-1E8A-468D-840D-1D9E0135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Diag หัตถการ และ ADP คนละข้อมูล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55458EB-1D05-4A7C-A34D-7B49130C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ICD-10 / Diag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3D695B7-5CDC-4197-AE25-2AE96766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รหัสวินิจฉัยตามเวชระเบียน พร้อมประเภทหลักหรือร่วม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C4F6BB8-36E9-4B58-B510-0D2F2E7D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ICD-9 / รหัสหัตถการ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D4C60D2-A07C-4915-B1BA-5E320C96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กิจกรรมที่ทำจริง ต้องตรงกับบริการ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F9BA9EB-0FFE-4748-B2D1-6E106344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ICD10TM ที่ใช้ในงานทันตกรรม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1762B8A-5EFC-44B1-B396-270730D6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ตรวจคู่รหัสตามรายการบริการที่คู่มือระบุ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ABB927C-651E-412A-8433-54EAF51C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ADP / รหัสเบิก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92D0846-E184-4C26-8914-EE868D75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รหัสรายการค่าใช้จ่ายของบริการ ไม่ใช้แทน Diag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9A450E9-A93D-43F9-9B45-5BF6F45C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คำว่า “หรือ” เลือกตามบริการ คำว่า “และ / คู่กับ” ต้องครบตามเงื่อนไข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FD1B886-2339-444A-8423-467694E4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A4D2646-74EB-4778-BEA9-6912E514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583190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E43380F4-8543-4D9F-B03D-E6DEED95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ตัวอย่างฝึก ANC Visit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F42BC67-00EF-48CA-A21B-8992BA14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430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ตัวอย่างสมมติสำหรับอ่านกฎที่โปรแกรมตั้งไว้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A0DA569-263A-441B-969F-0B37C404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ข้อมูลที่โปรแกรมตรวจ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6059310-30D3-4377-94E4-C59E89AC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21932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เพศหญิง และ Diag ฝากครรภ์กลุ่ม Z34 / Z35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FB39F86-DD42-4327-8512-6B3CEF18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รายการที่ต้องมี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C9B5021-FCDC-4747-B1D7-C4B74F8C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24200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ADP 30011 ตามบริการ ANC Visit จริง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53DBD1A-40C2-4949-9DAF-CD02D96F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ข้อมูลประกอบ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A796C12-A2F0-42A2-9F01-0594A1EA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290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ข้อมูลครรภ์ อายุครรภ์ ครั้งที่รับบริการ และเวชระเบียน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977A1D2-3E85-4197-90A2-1152F305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จุดตัดสินใจ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A024C0E-C4DF-4724-A038-0936B3F5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933950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พบรายการขาด ให้ตรวจบริการต้นทางก่อนบันทึกเพิ่ม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8501075-EDD8-4E5C-B036-692612C9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ตรวจประกาศและสิทธิหน่วยบริการที่ใช้กับวันรับบริการก่อนส่งจริง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A35F188-333A-4DFB-B206-DFA01F76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0CF33D8-29BE-4D15-B189-EC02AD07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259894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75F62906-0BFA-48D7-8EEC-21CCCD53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ตัวอย่างคู่รหัสคุมกำเนิด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3F9E42E-292D-43DE-AF4C-52B6ACE8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ฝังยาคุมกำเนิด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7CC71A5-54D7-4C9E-AC63-79059B51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Z308 + ICD-9 9923 + ADP FP002_1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4201FA-D6E9-4CF7-98E5-902BC19A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ถอดยาฝังคุมกำเนิด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4416E69-5598-45E9-BAF8-01689F29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Z308 + ICD-9 8605 + ADP FP002_2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B226A86-FFAD-4CA8-9912-0D9518D5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ยาเม็ดคุมกำเนิด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993CED8-C61F-4D2D-8918-009345D3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Z304 + FP003_1 / FP003_2 / FP003_3 ตามชนิดยา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9B9005F-8CB9-41C5-83F4-0015B09E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ยาฉีดคุมกำเนิด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B6F42D4-05C9-4FA7-87F3-A65FD4ED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Z304 + FP003_4 และตรวจประวัติจำนวนครั้ง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6B754FE-3A03-47C5-ACD6-FC17147C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รหัสตัวอย่างจากกฎโปรแกรม ต้องตรงบริการจริงและประกาศที่ใช้ในวันบริการ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3EC024F-0ACC-409D-8D35-F85B19D7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F4B233A-D6A2-4875-A690-CE08AD41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744094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3B11A859-2B1C-40A4-8A3D-824FD633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การอ่าน Checklist รายบริการ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5da0d4129431c"/>
          <a:stretch xmlns:a="http://schemas.openxmlformats.org/drawingml/2006/main"/>
        </p:blipFill>
        <p:spPr>
          <a:xfrm xmlns:a="http://schemas.openxmlformats.org/drawingml/2006/main">
            <a:off x="923245" y="1476375"/>
            <a:ext cx="7154636" cy="4552950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A16D771-1242-4E1C-B097-77C78E8B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952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อ่าน Checklist</a:t>
            </a:r>
          </a:p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ก่อนแก้ข้อมูล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9BACC81-5C42-47BE-90E4-C6F49F14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Diag และคู่รหัส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D3955FDD-C13B-4F89-A4D5-C9D71997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ข้อมูลที่ต้องกรอก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09FD864-7DC6-4E1B-80D7-141AF6FF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เงื่อนไขที่ต้องผ่าน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A2EA95B5-40A3-4AAF-9613-178A1C09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0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หลักฐานที่เจ้าหน้าที่ตรวจ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90D3009-9580-45C7-B4D1-01EC8386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43500"/>
            <a:ext cx="2905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ขั้นตอนคีย์ตามลำดับ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168C42CC-D4AB-445F-935D-7517A86F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ภาพส่วนบนของ Checklist จากหน้าโปรแกรม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F6D9875A-E87D-4F10-B715-E76DEDBC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291F57B4-BC1C-4EFC-89E5-E89AFB36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434969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DE1C993C-B444-4CC0-A210-3DDA1CD2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Lab และยา ต้องมีหลักฐานบริการ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CBFBF9-CB5A-4B74-BE9E-FE83F5B6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งานห้องปฏิบัติการ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0E8BA1-C9FD-4F10-AE2F-CEFB9390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มีรายการตรวจที่ถูกต้อง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014919E-B90F-48A5-BDEA-F9627AF0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มีค่าผล ไม่ใช่เพียง order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5301484-4985-4132-9D2D-BD42F1A9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ผลผูก visit ตามเกณฑ์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FDBE920-2B0C-452D-B456-84846BC05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ชุดตรวจครบตามรายการ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47F2DFD-349A-4F5E-B397-320BEBCF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ยาและสมุนไพร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99DEACD-033D-427C-9C27-27B8A39B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ชื่อยาและรหัสยาตรงรายการ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F1E769A-7283-42D8-ADDE-9DD50A3C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385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จำนวน วิธีใช้ และราคา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C2AB9CC5-2779-4ED9-840A-2D49901F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จ่ายจริง ไม่ใช่รายการยกเลิก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7A4D697-73AB-4489-8E32-85D907AA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Diag สัมพันธ์กับเวชระเบียน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765D4121-9D58-4073-A235-9DDCA266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ตารางสมุนไพรในโปรแกรมใช้ช่วยตรวจการจับคู่ของโรงพยาบาล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5987530-D98C-45E0-A34A-4C478860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8F9D980A-B5E4-4E66-8837-1A2E4B510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831044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1B6D8EA3-B838-4AE6-BBE3-0DE1E780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การแก้ไขข้อมูลและตรวจซ้ำ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713C3C1-1440-4D0D-9285-4C2BEFA3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6387913-938A-4C3D-AC90-D9F47A24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2057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อ่านสิ่งที่ขาด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BDC693E-EF7B-44AC-B365-62E900A0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ระบุช่องข้อมูล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32AA0C4-E0AA-4F90-897B-42C446BF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5737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BD2968D-DC95-4E46-A1D2-B86FC27B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57525"/>
            <a:ext cx="2057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ตรวจ</a:t>
            </a:r>
          </a:p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เวชระเบียน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B3FE732-B4A3-40C3-8615-35762185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148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ยืนยันบริการจริง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8C0F3C3-1EFF-4F95-A81F-AC4408D2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5737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C015850-C908-4114-8477-8A4554EB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057525"/>
            <a:ext cx="2057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แก้ต้นทาง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74A3312-B2E9-4FF9-9123-D91D8020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148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ผู้รับผิดชอบบันทึก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5ECFAA6-5FF7-4F2D-BEED-73E38E98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5737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FFB2DFC-5146-4A44-B3AC-7A9E94D5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57525"/>
            <a:ext cx="2057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โหลดใหม่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CF131082-D859-466A-AA26-A580596C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148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 VN เดิม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F1AA61BB-6EE6-4940-A056-033E3822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57375"/>
            <a:ext cx="1857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48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97068EA1-906E-455B-88A6-6F867AD8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57525"/>
            <a:ext cx="20574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2175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ตรวจซ้ำ</a:t>
            </a:r>
          </a:p>
        </p:txBody>
      </p:sp>
      <p:sp>
        <p:nvSpPr>
          <p:cNvPr id="16" name="text-15">
            <a:extLst xmlns:a="http://schemas.openxmlformats.org/drawingml/2006/main">
              <a:ext uri="{FF2B5EF4-FFF2-40B4-BE49-F238E27FC236}">
                <a16:creationId xmlns:a16="http://schemas.microsoft.com/office/drawing/2014/main" id="{E5AF1401-2613-4597-A360-8188B0BB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114800"/>
            <a:ext cx="20288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เก็บหลักฐาน</a:t>
            </a:r>
          </a:p>
        </p:txBody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DA654402-1867-4893-89F5-4E6941B7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ใช้คำสั่งช่วยเติมข้อมูลเฉพาะกรณีที่ตรวจบริการจริงและมีสิทธิ์ดำเนินการ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04B78CE7-5BED-4C72-A1B2-8823F5C7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9" name="text-18">
            <a:extLst xmlns:a="http://schemas.openxmlformats.org/drawingml/2006/main">
              <a:ext uri="{FF2B5EF4-FFF2-40B4-BE49-F238E27FC236}">
                <a16:creationId xmlns:a16="http://schemas.microsoft.com/office/drawing/2014/main" id="{74B4E523-BACA-4395-9E6A-30B8814E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703860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719C0FB8-61C8-488E-806A-7A08E8D7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Checklist ก่อนส่งออก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8DAE44A-0F2E-4C0E-AC6B-486FC284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ตัวบุคคลและสิทธิ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3C4CDE7-E42F-484D-B3B1-C80FC867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ถูกคน ถูกวัน และ Authen ตามข้อกำหนดช่องทาง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41BF814-D1A9-45E5-8B6F-67954F1E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ข้อมูลบริการ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1450C64-BC1F-4C9A-8187-3A69682B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Diag หัตถการ Lab ยา และ ADP ครบตามบริการจริง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D572CCF-604A-4408-9B6E-158F718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ค่าใช้จ่าย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309DE5A-2240-4C2F-95F3-683974EB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จำนวนและยอดถูกต้อง ไม่มีรายการซ้ำที่ต้องแก้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0B391D1-1DFA-4885-A487-C67DE2C7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ช่องทาง / ประวัติส่ง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2BF884B-47A0-43B0-A29C-1FFC9077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เลือกช่องทางตรงกองทุน และตรวจว่าเคยส่งแล้วหรือยัง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BFB27C8-6246-4F33-B412-3096883C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EA34F77-FCB4-4FF2-83EA-4AFF298F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405323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7E6530A4-FC13-413C-A6CC-6A4CA3B3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สาธิตส่งออก OPD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815D083-331B-4056-B9F3-03096D8B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  ตรวจชุดรายการ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5D17D00-CEF6-4306-8431-DC0EC9A4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ดูจำนวน VN และรายการที่เลือกในหน้าส่งออก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39A987B-625E-4E05-8101-D3AE8D34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2  Preview / Preflight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2B907DB-5B11-4C44-B64A-B46BD84C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เปิดข้อมูลก่อนส่งและแก้ข้อผิดพลาดที่พบ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4F08735-366B-43A6-92C7-9CF57845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3  เลือกวิธีส่ง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1FBCC5A-0146-471C-AF8C-32CBA280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ดาวน์โหลด 16 แฟ้ม หรือส่ง FDH API เมื่อระบบพร้อม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C5CE23E-4D93-419A-B764-29AA62B9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4  ตรวจผลหลังส่ง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616604C-1B3E-45EB-9E33-B7CB03C1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ดูสถานะ FDH และเก็บรายละเอียดรายการไม่ผ่าน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7EBFFA1D-7551-462D-B5CE-9520548D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ช่วงอบรมใช้ Preview ก่อน การกดส่ง API เป็นการส่งข้อมูลจริง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EF8A212-86D2-4C76-8F0A-D2DED3B5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8149E7A-51A9-42C8-A870-413FAC2A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21720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FE573871-E16D-44D6-903B-4BAD04D3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สถานะหลังส่งมีหลายขั้น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48A90E5-9FD5-41B8-B300-C4B9DD32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พร้อมส่ง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044DC60-AECF-45ED-B28E-4E1B4E32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ผ่านเงื่อนไขข้อมูลที่ระบบตรวจได้ในขั้นนั้น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9EB84D3-6BE2-4AD6-863C-C7DD6EFD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มีสถานะ FDH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0F84FB6-0B12-44EE-8777-39A2813C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ต้องอ่านผลรับข้อมูลและผลประมวลผลต่อ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B0D2D26-869F-4C00-84FB-DCD39830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REP / รายการปฏิเสธ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844AFC7-367C-4E5C-9860-4982E643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ดูรายละเอียดและเหตุผลของแต่ละรายการ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082867F-EC27-4F38-BC98-4AD5E75C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STM / การรับชำระ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801C06E-30DD-4215-B3FC-7D1E5B1A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ตรวจข้อมูลจ่ายและกระทบยอดกับลูกหนี้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F89F378-C6F4-454A-AF29-FF716297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อย่าใช้จำนวน “ส่งแล้ว” แทนจำนวน “ได้รับเงินแล้ว”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F49570DC-8F99-463A-9622-094C1F44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61B83FF0-80E5-4F23-A9DA-771E0855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314303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F3689804-C934-48D0-895B-1DA297F1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นำเข้า REP/STM และแก้ C/Deny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2E05CCA-A2B6-4B55-90C5-AE7E5F80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นำเข้า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C4CE248-1D34-4CD2-88DB-F4C4C54C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เลือกไฟล์ให้ตรงประเภท แล้วดูตัวอย่างก่อนนำเข้า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C8475A-FB6D-4DD6-B261-641D76BE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จับคู่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040860F-9BD7-4C3F-AC77-BB46238B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 VN / AN / Tran ID และรายการที่จับคู่ไม่ได้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8709DDE-9E5B-4804-8B0F-FF4211DA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อ่านเหตุผล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4B006C2-2952-4278-BC93-012A849D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เปิดเมนู ติด C/Deny หรือ ติดตาม Reject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6E92817-0670-4257-8B04-F9D6D89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แก้และติดตาม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79FA803-3318-4F63-82D7-BFDB3EC6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ตรวจต้นทาง แก้ตามเหตุผล และตรวจผลรอบถัดไป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D0016C9-41EB-4631-B396-B61A7A5E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2B133F8-AEC4-45ED-AAB3-505015C4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8115727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FA68D948-78FB-444A-9DC2-70068DF0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การเงินและงาน IPD ที่ต่อยอดได้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05F7A47-98DD-4FCB-84C1-B347A7A1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การเงิน / บัญชี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AA7D367-3EDE-420E-96C7-26E8934C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บัญชีลูกหนี้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5E5AC4A-5422-4F0B-839B-AC5A8CC5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385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กระทบยอด REP/STM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AD5FC91-B2BD-4A6C-854A-43E294B7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สรุป REP รายวัน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93DECA0-D341-4879-90A7-64F7695C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ภาพรวมประกัน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651FF15-42A1-4662-B002-75CB60D0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ผู้ป่วยใน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4023EB1-0574-437B-B4BD-39B21D7F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รายการ IPD และ AN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89443A3-7B80-47D5-98F3-1B5FBAF3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385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ส่งออก IPD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A0A9FE44-FE79-49F4-8253-251B05C0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337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Monitor IPD Claim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3ACB52F-B2B6-498D-88A2-CA471510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ติดตามผลตามข้อมูลที่เชื่อมต่อ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CCC22AB7-B9FD-4E59-A53E-3A3A72C4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6ADCF2F8-0145-46E9-BAA2-E7AD8D5B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064548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B95FB706-9FD3-4EE0-9A85-021CBCE8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แบบฝึก A  ค้นหาจุดที่ขาด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8898E70-6610-442F-9162-3B93350F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430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เคสสมมติ ANC Visit มี Diag และบันทึกบริการ แต่ไม่พบ ADP 30011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01C15D3-A99C-4E5D-AA67-C1D8C95D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งานของผู้เรียน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E085038-1905-49F8-8E79-D256D888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21932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เลือกกองทุนและค้นหารหัสในคู่มือ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92D67AB-6D70-44EA-A2E1-D8B5E5A0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สิ่งที่ต้องตรวจ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DA1020B-FC07-4AF9-8929-BACA7530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24200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ระบุข้อมูลที่ขาดและหลักฐานที่ต้องยืนยัน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7783F32-A385-4171-838C-0CB3C977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สิ่งที่ต้องอธิบาย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9E0569A-7353-4B0C-BE93-E7CF6E12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290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ใครแก้ข้อมูลต้นทาง และจะตรวจซ้ำอย่างไร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8330E25-1EE9-4114-A3D3-3D1FDA7C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ใช้เวลา 7 นาที แล้วให้หนึ่งกลุ่มอธิบายขั้นตอน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5C6288A-34C9-4C1D-B529-33D443AA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600FD98B-4C16-466F-9639-809AC5D2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8747154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83B34DE4-5F9D-4664-8753-EA34F074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แบบฝึก B  อ่านผลหลังส่ง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FED3449-E0CE-407D-B3CA-39F5E07D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430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0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เคสสมมติส่งข้อมูลแล้ว พบรายการปฏิเสธ และยังไม่พบข้อมูลจ่าย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4BFE34-405A-4534-AF75-B83D91D2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1932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งานของผู้เรียน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2574DED-790F-4B70-9199-0CDB4F57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21932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บอกว่าสถานะนี้อยู่ขั้นไหนของวงจร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0813360-C8CF-40F0-A1F6-58F3DF92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สิ่งที่ต้องเปิด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55833A3-1ED6-4B01-B7A7-C41F9951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124200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ผลประมวลผล เหตุผลปฏิเสธ และรายละเอียด visit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D2E1852-ECD5-414C-AE9C-D98BDB2C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สิ่งที่ต้องส่งต่อ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0F8412C-5579-4EDD-A31F-6694DD87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290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ระบุผู้รับผิดชอบและหลักฐานที่ใช้แก้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54161B-9E3A-44B0-B509-456C6152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ใช้เวลา 7 นาที แล้วร่วมกันแยก “รับข้อมูล” ออกจาก “จ่ายแล้ว”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593A1E8-D877-43EF-A4C8-85BC0F0E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1389C96-8688-4175-B102-1B538B41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1206152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B36A58BE-B6DB-44C8-9B9A-F28FBB0B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ปัญหาที่พบบ่อยระหว่างใช้งาน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9E314A-6115-4581-8606-F71E03DC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ไม่พบ visit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88E9C00-0943-43B5-8137-141F74D6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ตรวจช่วงวันที่ ตัวกรอง และการเชื่อมต่อ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527F73D-DE84-4E06-BDAF-A8F8920D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แก้แล้วสถานะไม่เปลี่ยน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2D3B28B-4A34-42DC-9358-028AB128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 VN ที่แก้ ดึงข้อมูลใหม่ และตรวจการผูกรหัส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DD5EDB7-B023-4220-B9E0-C17C6D40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เมนูหรือคำสั่งใช้ไม่ได้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042BD35-D205-4186-B41A-C5FCD02F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ตรวจสิทธิ์กับผู้ดูแลระบบ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D1E98EC-EB40-42D5-8DE6-4CE11485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ผลไม่ตรงที่คาด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7400042-1473-461E-9303-4CAC8527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เก็บวันเวลา เมนู และข้อความผิดพลาด ส่งผู้รับผิดชอบ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7A360AF-86FE-4DA9-B927-8A1CDE27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ส่งหลักฐานผ่านช่องทางที่โรงพยาบาลกำหนดและปกปิดข้อมูลผู้ป่วย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53D052D1-8FBB-4E4A-B06A-9E4D9E27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42266967-5A44-47DE-B586-04B74945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74511058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4247B162-108A-48DE-A8D6-6E460678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แผนเริ่มใช้ที่โรงพยาบาลวาริชภูมิ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673D2A0-D473-45B3-8648-874856BB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ก่อนเริ่ม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586C64E-937C-46E2-AC7D-1FA013F4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ผู้ดูแลตรวจระบบ บัญชี และสิทธิ์เมนูตามบทบาท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AB6437-D60A-4209-BB49-A71BEFC7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ช่วงทดลอง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A9F9F90-141E-457C-978A-2C56CA8E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เลือกหนึ่งกลุ่มบริการและช่วงวันที่สั้น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C10F14F-3B14-43C5-AD52-020567A2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ทบทวนร่วมกัน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F753D09-DEEE-4E91-BBCA-91C7BB29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ตรวจตัวอย่างที่ผ่านและไม่ผ่านกับเวชระเบียน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28A89E0-E70C-4022-BF4E-848345AB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ขยายการใช้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3AB4456-9F1B-43FC-BA37-BB6EF7ED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ตกลงเจ้าของงาน รอบตรวจ และช่องทางแจ้งปัญหา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CA4EB26-E9F8-4EB9-8806-742BA88D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626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เป็นข้อเสนอสำหรับตกลงร่วมกัน ไม่ใช่สถานะติดตั้งของโรงพยาบาล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DE18A10-520D-4F28-8556-C6722618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906BA3B-FD7A-4FAF-8DAB-8952D2D0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388811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AC069415-6EEA-4B16-BA16-8FE219F1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02B46"/>
                </a:solidFill>
                <a:latin typeface="Tahoma"/>
                <a:ea typeface="Tahoma"/>
                <a:cs typeface="Tahoma"/>
              </a:defRPr>
            </a:pPr>
            <a:r>
              <a:rPr sz="3300" b="1">
                <a:solidFill>
                  <a:srgbClr val="102B46"/>
                </a:solidFill>
                <a:latin typeface="Tahoma"/>
                <a:ea typeface="Tahoma"/>
                <a:cs typeface="Tahoma"/>
              </a:rPr>
              <a:t>กิจวัตรประจำวันของทีม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00AEAD0-3E65-4CA6-BE52-B508014E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เริ่มงาน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DE462FE-4464-448B-A8FA-01A229D8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7811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โหลดข้อมูลและแยกรายการพร้อมส่งกับรอแก้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5E286AC-DDDE-466E-932D-4747BF27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ระหว่างวัน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67588CE-D2FD-4310-9433-FD3EF5D4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098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ผู้รับผิดชอบตรวจหลักฐานและแก้ต้นทาง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E1039A5-C875-47B2-B8E7-10E82175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385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ก่อนส่ง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E3EA40E-82E8-4BEF-AE5B-6E67AAC5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8385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ตรวจชุดรายการและ Preview / Preflight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EC8A6BC-9612-413A-AAE2-76DB5ECE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67275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หลังส่ง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CDEB042-707E-4633-8F04-00701ED4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867275"/>
            <a:ext cx="7219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44C60"/>
                </a:solidFill>
                <a:latin typeface="Tahoma"/>
                <a:ea typeface="Tahoma"/>
                <a:cs typeface="Tahoma"/>
              </a:defRPr>
            </a:pPr>
            <a:r>
              <a:rPr sz="2100" b="0">
                <a:solidFill>
                  <a:srgbClr val="344C60"/>
                </a:solidFill>
                <a:latin typeface="Tahoma"/>
                <a:ea typeface="Tahoma"/>
                <a:cs typeface="Tahoma"/>
              </a:rPr>
              <a:t>ติดตามผล ปิดรายการแก้ไข และกระทบยอดเมื่อมี STM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EA7EED3-90E9-456B-A582-E427799E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B7D"/>
                </a:solidFill>
                <a:latin typeface="Tahoma"/>
                <a:ea typeface="Tahoma"/>
                <a:cs typeface="Tahoma"/>
              </a:defRPr>
            </a:pPr>
            <a:r>
              <a:rPr sz="1125" b="0">
                <a:solidFill>
                  <a:srgbClr val="526B7D"/>
                </a:solidFill>
                <a:latin typeface="Tahoma"/>
                <a:ea typeface="Tahoma"/>
                <a:cs typeface="Tahoma"/>
              </a:rPr>
              <a:t>FDH Checker   /   โรงพยาบาลวาริชภูมิ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CE9856E2-CC53-4246-A7DD-81CDD839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03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Tahoma"/>
                <a:ea typeface="Tahoma"/>
                <a:cs typeface="Tahoma"/>
              </a:defRPr>
            </a:pPr>
            <a:r>
              <a:rPr sz="1350" b="1">
                <a:solidFill>
                  <a:srgbClr val="087F8C"/>
                </a:solidFill>
                <a:latin typeface="Tahoma"/>
                <a:ea typeface="Tahoma"/>
                <a:cs typeface="Tahoma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716099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180b98a5462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7B38E94C-E736-4D17-8939-AA1024E5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8CE6E7"/>
                </a:solidFill>
                <a:latin typeface="Tahoma"/>
                <a:ea typeface="Tahoma"/>
                <a:cs typeface="Tahoma"/>
              </a:defRPr>
            </a:pPr>
            <a:r>
              <a:rPr sz="2700" b="1">
                <a:solidFill>
                  <a:srgbClr val="8CE6E7"/>
                </a:solidFill>
                <a:latin typeface="Tahoma"/>
                <a:ea typeface="Tahoma"/>
                <a:cs typeface="Tahoma"/>
              </a:rPr>
              <a:t>โรงพยาบาลวาริชภูมิ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0171463D-7C1B-4C48-A7EF-5E33C2C8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45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คำถามและทดลองใช้งาน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9141C1E-2E82-4A7B-8BED-3A41AA14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DBF3FA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DBF3FA"/>
                </a:solidFill>
                <a:latin typeface="Tahoma"/>
                <a:ea typeface="Tahoma"/>
                <a:cs typeface="Tahoma"/>
              </a:rPr>
              <a:t>ค้นหา 1 visit อธิบายสิ่งที่ขาด</a:t>
            </a:r>
          </a:p>
          <a:p xmlns:a="http://schemas.openxmlformats.org/drawingml/2006/main">
            <a:pPr>
              <a:defRPr sz="2625" b="0">
                <a:solidFill>
                  <a:srgbClr val="DBF3FA"/>
                </a:solidFill>
                <a:latin typeface="Tahoma"/>
                <a:ea typeface="Tahoma"/>
                <a:cs typeface="Tahoma"/>
              </a:defRPr>
            </a:pPr>
            <a:r>
              <a:rPr sz="2625" b="0">
                <a:solidFill>
                  <a:srgbClr val="DBF3FA"/>
                </a:solidFill>
                <a:latin typeface="Tahoma"/>
                <a:ea typeface="Tahoma"/>
                <a:cs typeface="Tahoma"/>
              </a:rPr>
              <a:t>และบอกขั้นตอนถัดไป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065C697-6C67-48C9-8708-456066D7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29125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เปรมศักดิ์ เทพวงสา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5A8426E-EA0E-4C35-AFF9-84F525F1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720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5E5EC"/>
                </a:solidFill>
                <a:latin typeface="Tahoma"/>
                <a:ea typeface="Tahoma"/>
                <a:cs typeface="Tahoma"/>
              </a:defRPr>
            </a:pPr>
            <a:r>
              <a:rPr sz="1875" b="0">
                <a:solidFill>
                  <a:srgbClr val="C5E5EC"/>
                </a:solidFill>
                <a:latin typeface="Tahoma"/>
                <a:ea typeface="Tahoma"/>
                <a:cs typeface="Tahoma"/>
              </a:rPr>
              <a:t>นักวิชาการชำนาญการ  โรงพยาบาลโคกศรีสุพรรณ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26F1F34-57DE-4CDD-BAEA-5D2DCD63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959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8CE6E7"/>
                </a:solidFill>
                <a:latin typeface="Tahoma"/>
                <a:ea typeface="Tahoma"/>
                <a:cs typeface="Tahoma"/>
              </a:defRPr>
            </a:pPr>
            <a:r>
              <a:rPr sz="1800" b="0">
                <a:solidFill>
                  <a:srgbClr val="8CE6E7"/>
                </a:solidFill>
                <a:latin typeface="Tahoma"/>
                <a:ea typeface="Tahoma"/>
                <a:cs typeface="Tahoma"/>
              </a:rPr>
              <a:t>15 กันยายน 2569</a:t>
            </a:r>
          </a:p>
        </p:txBody>
      </p:sp>
    </p:spTree>
    <p:extLst>
      <p:ext uri="{BB962C8B-B14F-4D97-AF65-F5344CB8AC3E}">
        <p14:creationId xmlns:p14="http://schemas.microsoft.com/office/powerpoint/2010/main" val="8573542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2026-09-14T02:03:40.1190000Z</dcterms:created>
  <dcterms:modified xsi:type="dcterms:W3CDTF">2026-09-14T02:03:40.1190000Z</dcterms:modified>
</coreProperties>
</file>